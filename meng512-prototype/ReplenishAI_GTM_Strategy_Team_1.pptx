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1631B-FCDD-F18B-B695-94707C7D0C3C}" v="54" dt="2026-03-25T13:19:17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BAEA6-9A43-4D92-9BF7-AA7B19958C96}" type="datetimeFigureOut"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7FB5C-E5D8-4FF8-9417-D1C2EB1BBB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7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100% of our interviewees discovered shortages mid-task — 11 PM laundry, pre-hosting, mid-shower. USC research validates this: household inventory tracking is among the most stressful forms of cognitive labor. 72% of cognitive household labor falls on one person (USC / Fair Play Institute, 2024). Emergency reactive purchases at convenience stores cost 5–6× the normal price. Existing solutions like Subscribe &amp; Save use fixed cadences; reminder apps are reactive. None adapts to irregular real-life usage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grocery management market is growing from $1.05B (2024) to $3.65B by 2029 at 28.6% CAGR (Research and Markets, 2026). PwC (2025): 'In five years, the phrase grocery run may sound as dated as dial-up.' 40% of consumers expect AI for comparison shopping by 2030. Grocery subscription spending on household essentials rose 35–77% in 3 years (PYMNTS, 2023). The demand exists, but the right product does not. ReplenishAI targets the root cause — cognitive overload — not just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findings from customer discovery interviews: (1) Mid-task disruptions trigger the sharpest emotional spikes, scored 8–10/10 on frustration scale. (2) Cognitive overload is the real pain, not just inconvenience. Users describe it as '50 tabs open in my brain.' (3) Most rely on memory or a Notes app — both fragile and failing when life gets busy. (4) The ideal state universally described: 'essentials just there' with zero mental effort. (5) Multiple behavioral segments confirmed: proactive planners, reactive users, and budget-seekers. The critical insight: time and routine protection consistently outranked price savings as the #1 value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Zion Taylor: 22, Duke Senior, Student Org Leader. Hosts weekly gatherings for 10–20 people. Manages packed academic + org-leader schedule. Uses proximity shopping as default strategy. Discovers shortages 30 min before guests arrive, pays 5–6× at the nearest bodega. Hannah: 28, Project Manager, lives alone. After managing projects all day, can't manage pantry too. Forgets basics like paper towels, dish soap. Wants predictive alerts. Marcus: 35, parent of two, dual income household. Juggles kids' needs, work, household. Mental inventory across 50+ items. Wants budget optimization and family-level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Prop Pillars: (1) Predictive Intelligence: ML learns your 30-day consumption cycle and detects low stock 5 days before you notice. No manual tracking needed. (2) Co-Pilot Mode: Every suggestion requires your approval. Full control over every purchase. No auto-buying, ever. (3) Context-Aware Alerts: Notifications fire during natural shopping windows (Sunday afternoon, not 11 PM). Synced with your calendar — exam weeks, travel, hosting events. (4) Budget Intelligence: Tracks price history, flags deals on preferred brands, suggests bulk buys for budget-conscious users. Consumer Insight: Time &amp; routine protection consistently outranked price savings as the #1 value driver across every persona we interviewed.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evaluated four GTM strategy types against ReplenishAI's product, market, and resources. Product-Led (PRIMARY): Our product solves a daily pain — free tier hooks users. The 'prevented stockout' moment is the conversion event. Low-friction mobile onboarding maps perfectly to Gen Z behavior. Low price point ($7.99) eliminates need for a sales team. Community-Led (SECONDARY): Duke is a closed, high-trust campus. Student orgs are force multipliers — one ambassador brings 15–20 members. Similar to how Venmo spread campus-to-campus. Marketing-Led (SUPPORTING): Lightweight content plays to Gen Z. Organic-first keeps CAC near zero. Relatable stockout humor is inherently shareable. Channel-Led (FUTURE): Requires supplier API integrations at scale and partner negotiations. Strong long-term play for Phase 2+ after campus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Product-Led Growth Deep Dive: The freemium model is the core engine. Free tier: track up to 10 items with basic low-stock alerts. Gets users in the door with zero friction. Aha Moment (~Day 7): The first time AI prevents a stockout is the key conversion moment. Users feel the value viscerally. Upgrade Nudge: After 3rd prevented stockout or when 10-item cap is hit. Paid Conversion: Target 25%+ free-to-paid conversion. $4.99/mo Plus tier is impulse-purchase pricing for students. Why PLG works: Low price point ($4.99) eliminates need for sales team. Self-serve onboarding maps to Gen Z. The prevented stockout moment is visceral and shareable. Product value proven before payment. Each user generates data that improves predictions — a compounding flywheel.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Community-Led Deep Dive: Duke is a closed ecosystem with ~10,700 students. This makes it ideal for community-led growth. Ambassador Program: Recruit 10 student org leaders, each with 15–20 member reach. Incentives: Free Plus subscription + branded merch. Ambassadors seed the product in their orgs naturally. Referral Loops: $5 credit per successful referral. Both referrer and referee get value. Target: 40% of new users from referrals by Month 4. Student Org Partnerships: Partner with Duke Student Government, cultural orgs, Greek life. Sponsor events with 'powered by ReplenishAI' branding. GroupMe/Slack Channels: Organic mentions in existing campus chat groups. Ambassadors seed product recommendations naturally. Why it works: Venmo achieved 7% campus adoption at Penn via the same peer-to-peer viral mechanics. Our target is 7% (~750 users) in 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Marketing-Led Deep Dive: TikTok/Instagram Content: Relatable 'running out of...' humor series. 3 posts/week. Stockout reaction videos. Student creator collaborations. This type of content performs well with Gen Z because the problem is universally relatable. SEO &amp; Blog: Target long-tail queries like 'how to never run out of essentials', 'college pantry management', 'best grocery tracking app for students'. These are intent-rich queries with low competition. Campus PR: Duke Chronicle feature, campus podcast appearances, New Student Orientation presence. Free earned media that builds credibility. Micro-Influencer Plays: Partner with 5–10 Duke student creators with 5K–20K followers. Authentic product reviews, not ads. These creators have high trust with their campus audience. Why it works: Gen Z discovers products through social content, not traditional advertising. Our stockout problem is inherently relatable and shareable. Organic-first approach keeps CAC near $0. Paid amplification is Phase 2 after validating which content converts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Channel-Led GTM Deep Dive (Phase 2): Supplier Affiliate Integrations: Amazon Product Advertising API — broadest catalog, Prime delivery. Walmart Affiliate + Content API — price leader, pickup option. Instacart Fulfillment API — same-day delivery, local stores. Revenue: 4–8% affiliate commission per order routed through our platform. Student Housing Operators: Bundle ReplenishAI into housing packages for residents. Housing operators benefit: reduced move-out damage, happier tenants, differentiator for their properties. Revenue model: B2B SaaS per-unit license ($2–5/unit/mo). Target: Duke housing first, then expand to peer universities. Smart Home &amp; Delivery Tie-Ins: Integrate with smart fridges, Alexa/Google Home for voice reordering. Co-marketing with delivery services (DoorDash Grocery, Amazon Fresh). White-label potential: other apps embed our prediction engine. Revenue: API licensing + co-marketing revenue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Growth Loop: (1) User receives a smart alert about low stock. (2) Stockout is prevented — user doesn't run out. (3) Delight moment — the emotional payoff of not having to scramble. (4) User tells a friend or roommate about the experience. (5) Friend signs up and the loop repeats. Each new user generates approximately 1.5 referrals in our campus model due to network density effects — roommates, friends in the same dorm, org members. Channel Mix: Campus Ambassadors (200 users/mo, free — just perks). Referral Program (150 users/mo, $2 CAC). TikTok/IG Social Content (100 users/mo, $0.50 CAC). Campus SEO/Blog (50 users/mo, $1 CAC). Total: ~500 new users/mo, blended CAC under $1.50. 80% organic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Strategy — Per User Model: We price per user, not per household. This solves the free-rider problem (roommates sharing one account) and produces better ML predictions since each user has their own consumption profile. Free ($0/user): Track up to 10 items with basic low-stock alerts. Proves value before payment. The 10-item limit creates natural upgrade pressure since most people track 25+ items. Plus ($4.99/user/mo): Core revenue driver. Unlimited items, AI predictive alerts, calendar integration, price optimization. At $4.99 it's impulse-purchase pricing for students. Verified Housing ($3.49/user/mo): Discounted per-user rate for Duke Housing-verified groups. Uses institutional housing data to validate who lives together — eliminates the 'we're all one household' gaming problem. Includes shared common-item tracking (toilet paper, dish soap) plus individual predictions. Opens the B2B channel: Duke Housing could subsidize or bundle this for residents. Revenue Math (Month 6): 500 users × 60% paid × $4.99 avg = $1,497/mo subscription + $1,250/mo affiliate = $2,747/mo. With verified housing partnerships adding B2B revenue, total approaches $3,500/mo. Unit Economics: ~$7.49 blended revenue per paying user (mix of Plus + Verified Housing + affiliate) minus ~$2.00 variable cost = ~$5.49 contribution margin (73%). Breakeven at ~Month 14 with ~2,200 active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OKR Details — O1: Establish product-market fit at Duke. KR1: 750 monthly active users by Month 6 — Duke has ~10,700 students. 750 = ~7% adoption, in range of campus app launches like Venmo (7% at Penn). KR2: Stockout rate &lt; 2% for active users — industry average for Subscribe &amp; Save is ~8%. Our ML predicts 5 days ahead, giving a larger reorder window. KR3: NPS &gt; 60 — customer interviews scored the problem 8–10/10 frustration. Products that eliminate high-frustration daily pain routinely exceed 60 NPS. O2: Build self-sustaining acquisition engine. KR1: 40% of new users from referrals by Month 4. KR2: Blended CAC &lt; $3. KR3: Week-1 retention &gt; 70%. O3: Validate revenue model. KR1: Free-to-paid conversion &gt; 25%. KR2: Monthly subscription churn &lt; 5% (B2C median is 6–8%). KR3: Monthly revenue &gt; $3,500 by Month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90-Day Launch Timeline Details: Phase 1 Pre-Launch (Weeks 1–4): Run closed beta with 50 Duke students to validate core prediction loop. Recruit 10 campus ambassadors from student org leaders. Build waitlist via Instagram teasers + GroupMe group posts. Finalize Amazon Affiliate API integration as primary supplier connection. Phase 2 Soft Launch (Weeks 5–8): Open to 200 Duke students via waitlist + ambassador invites. Activate referral program: $5 credit per successful referral for both parties. Launch TikTok/Instagram content series — 'running out of...' humor posts. Run weekly NPS pulse surveys to track satisfaction and iterate. Phase 3 Full Launch (Weeks 9–12): Open to all Duke students and staff. PR push: Duke Chronicle feature, campus podcast appearances. Activate paid tier upsell nudges within the app. Begin planning expansion to 2–3 additional campuses based on Duke learnings.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Details: (1) Low initial adoption — Pre-seed with 10 ambassador org leaders who each bring 15–20 members. Waitlist creates FOMO. Free tier removes all financial friction. (2) Supplier API access delays — Start with Amazon Affiliate API (easiest to access). Walmart and Instacart as Phase 2. Manual product curation as fallback for MVP. (3) ML prediction accuracy insufficient early — First 30 days use simple time-decay heuristics while ML trains. Set user expectations: 'ReplenishAI gets smarter over time.' (4) Users don't convert Free to Paid — Free tier limited to 10 items (most users track 25+). Upgrade nudge triggers after 3rd prevented stockout. A/B test pricing and messaging. (5) Competitor copies the model — Per-user ML creates a data moat that deepens with every interaction. First-mover advantage on campus market. Switching cost: users would need to rebuild 30+ days of consumption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Strategy Summary: ReplenishAI's go-to-market strategy is a Product-Led Growth motion with Community-Led and Marketing-Led support, launching at Duke University as a high-trust beachhead. We lead with a freemium model where the free tier (10 items) proves value before asking for money, and natural upgrade pressure drives 25%+ conversion to the $4.99/mo Plus tier. A Verified Housing tier at $3.49/user/mo uses Duke admin data to validate co-living groups — no free-rider gaming, better ML, and a direct B2B channel. Campus ambassadors and referral loops create organic viral growth (80% of acquisition), while TikTok/Instagram content and SEO build awareness. Channel-Led partnerships (supplier APIs, student housing operators) activate in Phase 2 after traction is proven. With 73% contribution margins and a focused campus strategy, we target breakeven at Month 14 with ~2,200 active users. Our north star metric is stockout rate &lt; 2% — if users never run out, everything else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A3A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ReplenishAI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on the mental load of household management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so,</a:t>
            </a:r>
            <a:r>
              <a:rPr lang="en-US" sz="1500" dirty="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 you can stop stressing and start living.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Boampong  ·  Alex (Yanhe) Zhu  ·  Austin Sandoval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Market Context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Personas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Value Prop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Evaluation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Deep Dive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Deep Dive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52628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Marketing-Led Deep Dive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00584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Channel-Led Deep Dive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150876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150876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Loops &amp; Channels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54880" y="20116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Revenue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54880" y="251460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51460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OKRs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754880" y="30175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54880" y="301752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578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Timeline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754880" y="35204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54880" y="352044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25780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754880" y="402336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54880" y="4023360"/>
            <a:ext cx="411480" cy="41148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25780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Summary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Problem By The Numbers</a:t>
            </a:r>
            <a:endParaRPr lang="en-US" sz="2800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discovered shortages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worst possible moment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0C858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cognitive household labor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on one person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01168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5–6×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paid on emergency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store runs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"After managing projects all day, I don't want to manage my pantry too."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Customer Interview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0FA3A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$3.65B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grocery management market by 2029  ·  28.6% CAGR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1089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3017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consumers expect AI-assisted purchasing by 2030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0" y="3520440"/>
            <a:ext cx="6400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6118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520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B3D"/>
                </a:solidFill>
                <a:latin typeface="Calibri"/>
                <a:ea typeface="Calibri"/>
                <a:cs typeface="Calibri"/>
              </a:rPr>
              <a:t>Grocery subscription spending up 35-77% in 3 years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371600" y="4023360"/>
            <a:ext cx="64008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41148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023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incumbent in the Proactive + Zero Cognitive Load space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Discovery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Routine Protection outranked Price Savings across every persona.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54864" cy="105156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out completely is the most frustrating — 10/10."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Stella, Software Engineer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54864" cy="105156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want to manage my pantry after managing projects."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Hannah, Project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54864" cy="105156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out forces me to choose between rest and errands."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Cynthia, Nurse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54864" cy="105156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notice the gradual decline. I only notice the zero."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Zion, Student Leader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Personas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$3.65B   ·   SAM $450M   ·   SOM $2.4M (Duke + 5 campuses, Yr 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822960" cy="20116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25880" y="19202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039112"/>
            <a:ext cx="356616" cy="3566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Leader, 22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out 30 min before guests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703320"/>
            <a:ext cx="2011680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Zero mental effort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91840" y="15087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83280" y="1600200"/>
            <a:ext cx="82296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3383280" y="16002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160520" y="19202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039112"/>
            <a:ext cx="356616" cy="3566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Hannah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329184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Manager, 28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Cannot</a:t>
            </a:r>
            <a:r>
              <a:rPr lang="en-US" sz="1200" dirty="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 manage pantry after work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566160" y="3703320"/>
            <a:ext cx="2011680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6" name="Text 22"/>
          <p:cNvSpPr/>
          <p:nvPr/>
        </p:nvSpPr>
        <p:spPr>
          <a:xfrm>
            <a:off x="347472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Cognitive relief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126480" y="15087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600200"/>
            <a:ext cx="822960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5"/>
          <p:cNvSpPr/>
          <p:nvPr/>
        </p:nvSpPr>
        <p:spPr>
          <a:xfrm>
            <a:off x="6217920" y="16002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995160" y="19202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2039112"/>
            <a:ext cx="356616" cy="35661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12648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Marcus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612648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of two, 35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3093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items to track mentally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00800" y="3703320"/>
            <a:ext cx="2011680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6" name="Text 31"/>
          <p:cNvSpPr/>
          <p:nvPr/>
        </p:nvSpPr>
        <p:spPr>
          <a:xfrm>
            <a:off x="630936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Wants: Budget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Positioning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solidFill>
            <a:srgbClr val="0FA3A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280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280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students and young professionals who struggle to keep essentials stocked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691640"/>
            <a:ext cx="67665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828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ReplenishAI 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co-pilot that predicts what</a:t>
            </a:r>
            <a:endParaRPr lang="en-US" sz="2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need before you run out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88720" y="2880360"/>
            <a:ext cx="67665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3017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Save or reminder apps, we adapt to real consumption patterns with zero cognitive load.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3685032"/>
            <a:ext cx="356616" cy="3566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91840" y="35661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685032"/>
            <a:ext cx="356616" cy="35661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3464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Co-Pilot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212080" y="35661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368503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5488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132320" y="35661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36850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75120" y="4251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Smart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Strategy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124712"/>
            <a:ext cx="822960" cy="20116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247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5270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Product-Led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Zoom, Dropbox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30352" y="2606040"/>
            <a:ext cx="1773936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26974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692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pain point = instant value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proves before payment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 = no sales team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prefers self-serve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828800" cy="2743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0604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79192" y="1124712"/>
            <a:ext cx="82296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2679192" y="11247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154680" y="14173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27048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6517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Community-Led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265176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Notion, Discord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679192" y="2606040"/>
            <a:ext cx="1773936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5" name="Text 21"/>
          <p:cNvSpPr/>
          <p:nvPr/>
        </p:nvSpPr>
        <p:spPr>
          <a:xfrm>
            <a:off x="2679192" y="26974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71576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campus = viral density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Ambassadors = force multipliers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 environment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Venmo-style peer spread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651760" y="4434840"/>
            <a:ext cx="182880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265176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75488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828032" y="1124712"/>
            <a:ext cx="822960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7"/>
          <p:cNvSpPr/>
          <p:nvPr/>
        </p:nvSpPr>
        <p:spPr>
          <a:xfrm>
            <a:off x="4828032" y="11247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303520" y="14173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527048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8006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Marketing-Led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480060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HubSpot, Mailchimp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828032" y="2606040"/>
            <a:ext cx="1773936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7" name="Text 32"/>
          <p:cNvSpPr/>
          <p:nvPr/>
        </p:nvSpPr>
        <p:spPr>
          <a:xfrm>
            <a:off x="4828032" y="26974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486460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discovers via social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humor is shareable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Organic-first, low cost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= Phase 2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800600" y="4434840"/>
            <a:ext cx="18288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Text 35"/>
          <p:cNvSpPr/>
          <p:nvPr/>
        </p:nvSpPr>
        <p:spPr>
          <a:xfrm>
            <a:off x="480060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903720" y="105156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976872" y="1124712"/>
            <a:ext cx="822960" cy="201168"/>
          </a:xfrm>
          <a:prstGeom prst="rect">
            <a:avLst/>
          </a:prstGeom>
          <a:solidFill>
            <a:srgbClr val="7A8699"/>
          </a:solidFill>
          <a:ln/>
        </p:spPr>
      </p:sp>
      <p:sp>
        <p:nvSpPr>
          <p:cNvPr id="43" name="Text 38"/>
          <p:cNvSpPr/>
          <p:nvPr/>
        </p:nvSpPr>
        <p:spPr>
          <a:xfrm>
            <a:off x="6976872" y="11247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2+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7452360" y="14173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527048"/>
            <a:ext cx="329184" cy="32918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9494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Channel-Led</a:t>
            </a:r>
            <a:endParaRPr lang="en-US" sz="1500" dirty="0"/>
          </a:p>
        </p:txBody>
      </p:sp>
      <p:sp>
        <p:nvSpPr>
          <p:cNvPr id="47" name="Text 41"/>
          <p:cNvSpPr/>
          <p:nvPr/>
        </p:nvSpPr>
        <p:spPr>
          <a:xfrm>
            <a:off x="694944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Salesforce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6976872" y="2606040"/>
            <a:ext cx="1773936" cy="36576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9" name="Text 43"/>
          <p:cNvSpPr/>
          <p:nvPr/>
        </p:nvSpPr>
        <p:spPr>
          <a:xfrm>
            <a:off x="6976872" y="26974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86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701344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traction first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deals take time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long-term play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operators = scale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6949440" y="4434840"/>
            <a:ext cx="1828800" cy="274320"/>
          </a:xfrm>
          <a:prstGeom prst="rect">
            <a:avLst/>
          </a:prstGeom>
          <a:solidFill>
            <a:srgbClr val="7A8699"/>
          </a:solidFill>
          <a:ln/>
        </p:spPr>
      </p:sp>
      <p:sp>
        <p:nvSpPr>
          <p:cNvPr id="52" name="Text 46"/>
          <p:cNvSpPr/>
          <p:nvPr/>
        </p:nvSpPr>
        <p:spPr>
          <a:xfrm>
            <a:off x="694944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2+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Product-Led GTM - Deep Dive</a:t>
            </a:r>
            <a:endParaRPr lang="en-US" sz="2800">
              <a:latin typeface="Trebuchet M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PRIMARY MOTION: The product is the marketing, the sales pitch, and the retention engine.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5486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10 items, basic alerts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Aha Moment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194560"/>
            <a:ext cx="4114800" cy="45720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stockout prevented (~Day 7)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Upgrade Nudge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926080"/>
            <a:ext cx="2743200" cy="4572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unlimited + AI predictions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Paid: $4.99/mo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3657600"/>
            <a:ext cx="182880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25%+ convert - core </a:t>
            </a: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revenue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PLG works: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 = no sales team · Value proven before payment · Inherent virality · Data flywheel compounds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Community-Led GTM - Deep Dive</a:t>
            </a:r>
            <a:endParaRPr lang="en-US" sz="2800">
              <a:latin typeface="Trebuchet M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SECONDARY MOTION: The campus network IS the distribution channel.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Campus Ambassadors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Each with 15–</a:t>
            </a:r>
            <a:r>
              <a:rPr lang="en-US" sz="110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20-member</a:t>
            </a:r>
            <a:r>
              <a:rPr lang="en-US" sz="1100" dirty="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 reach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5087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6184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Program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9748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credit per successful referral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4173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0" y="15087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6184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Org Partnerships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4632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life, cultural orgs, student govt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03720" y="14173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52360" y="15087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6184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GroupMe / Slack Seeding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9516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mentions in existing channels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Venmo achieved 7% campus adoption at Penn via peer-to-peer mechanics.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target: 7% of Duke (~750 users) in 6 months.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Marketing-Led GTM - Deep Dive</a:t>
            </a:r>
            <a:endParaRPr lang="en-US" sz="2800" dirty="0">
              <a:latin typeface="Trebuchet M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SUPPORTING MOTION: Content creates awareness; organic-first keeps CAC near $0.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TikTok / Instagram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'running out of...' humor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posts/week · Student creator collabs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5087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6184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&amp; Blog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97480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'never run out of essentials'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'college pantry management'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5488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0" y="15087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6184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PR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46320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Chronicle · Podcast appearances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 Orientation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903720" y="14173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52360" y="15087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6184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Micro-Influencers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95160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Duke creators (5K–20K followers)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reviews, not ads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703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discovers products through social content, not ads. Our stockout problem is inherently relatable and shareable.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Channel-Led GTM - Deep Dive</a:t>
            </a:r>
            <a:endParaRPr lang="en-US" sz="2800">
              <a:latin typeface="Trebuchet M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FUTURE MOTION (Phase 2) : Activate after campus traction is proven.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5087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62763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Affiliates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Walmart, Instacart APIs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4–8% commission per order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15087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6276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Housing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8328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for residents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$2–5/unit/mo B2B license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95160" y="150876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6276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Home Tie-Ins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1792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Alexa, Google Home, smart fridges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reordering integration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Activate after 750+ campus users. Supplier APIs are the priority for Phase 2 (Months 7–12).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gets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50876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0" y="128016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592" y="1444752"/>
            <a:ext cx="493776" cy="4937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59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Stockout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08760"/>
            <a:ext cx="32004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069080" y="128016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1444752"/>
            <a:ext cx="493776" cy="4937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74904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Delight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320040" cy="32004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852160" y="128016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444752"/>
            <a:ext cx="493776" cy="49377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53212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Tells a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08760"/>
            <a:ext cx="320040" cy="32004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7635240" y="128016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1444752"/>
            <a:ext cx="493776" cy="49377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31520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signs up</a:t>
            </a:r>
            <a:endParaRPr lang="en-US" sz="1300" dirty="0"/>
          </a:p>
        </p:txBody>
      </p:sp>
      <p:sp>
        <p:nvSpPr>
          <p:cNvPr id="24" name="Shape 1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5" name="Text 14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user generates ~1.5 referrals in our campus model</a:t>
            </a:r>
            <a:endParaRPr lang="en-US" sz="1500" dirty="0"/>
          </a:p>
        </p:txBody>
      </p:sp>
      <p:sp>
        <p:nvSpPr>
          <p:cNvPr id="26" name="Shape 15"/>
          <p:cNvSpPr/>
          <p:nvPr/>
        </p:nvSpPr>
        <p:spPr>
          <a:xfrm>
            <a:off x="457200" y="35661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16"/>
          <p:cNvSpPr/>
          <p:nvPr/>
        </p:nvSpPr>
        <p:spPr>
          <a:xfrm>
            <a:off x="5486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Ambassadors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5486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200/mo · Free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2606040" y="35661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19"/>
          <p:cNvSpPr/>
          <p:nvPr/>
        </p:nvSpPr>
        <p:spPr>
          <a:xfrm>
            <a:off x="269748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Program</a:t>
            </a:r>
            <a:endParaRPr lang="en-US" sz="1200" dirty="0"/>
          </a:p>
        </p:txBody>
      </p:sp>
      <p:sp>
        <p:nvSpPr>
          <p:cNvPr id="31" name="Text 20"/>
          <p:cNvSpPr/>
          <p:nvPr/>
        </p:nvSpPr>
        <p:spPr>
          <a:xfrm>
            <a:off x="26974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150/mo · $2 CAC</a:t>
            </a:r>
            <a:endParaRPr lang="en-US" sz="1100" dirty="0"/>
          </a:p>
        </p:txBody>
      </p:sp>
      <p:sp>
        <p:nvSpPr>
          <p:cNvPr id="32" name="Shape 21"/>
          <p:cNvSpPr/>
          <p:nvPr/>
        </p:nvSpPr>
        <p:spPr>
          <a:xfrm>
            <a:off x="4754880" y="35661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22"/>
          <p:cNvSpPr/>
          <p:nvPr/>
        </p:nvSpPr>
        <p:spPr>
          <a:xfrm>
            <a:off x="484632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Content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484632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100/mo · $0.50 CAC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25"/>
          <p:cNvSpPr/>
          <p:nvPr/>
        </p:nvSpPr>
        <p:spPr>
          <a:xfrm>
            <a:off x="69951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/ Blog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69951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50/mo · $1 CAC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— Per User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Priced per user, not per household gives better ML, no free-rider problem.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6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18288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68296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10 items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1576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alerts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input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4360" y="3886200"/>
            <a:ext cx="2286000" cy="2560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3"/>
          <p:cNvSpPr/>
          <p:nvPr/>
        </p:nvSpPr>
        <p:spPr>
          <a:xfrm>
            <a:off x="59436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prove value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91840" y="1371600"/>
            <a:ext cx="2560320" cy="22860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21" name="Text 16"/>
          <p:cNvSpPr/>
          <p:nvPr/>
        </p:nvSpPr>
        <p:spPr>
          <a:xfrm>
            <a:off x="3291840" y="1371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29184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38328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$4.99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5029200" y="2057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0" y="2377440"/>
            <a:ext cx="18288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505456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862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items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852928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86200" y="2816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predictions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20040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88620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</a:t>
            </a:r>
            <a:endParaRPr lang="en-US" sz="12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54787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86200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deals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3429000" y="3886200"/>
            <a:ext cx="2286000" cy="2560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5" name="Text 26"/>
          <p:cNvSpPr/>
          <p:nvPr/>
        </p:nvSpPr>
        <p:spPr>
          <a:xfrm>
            <a:off x="342900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driver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Housing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621792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$3.49</a:t>
            </a:r>
            <a:endParaRPr lang="en-US" sz="2800" dirty="0"/>
          </a:p>
        </p:txBody>
      </p:sp>
      <p:sp>
        <p:nvSpPr>
          <p:cNvPr id="39" name="Text 30"/>
          <p:cNvSpPr/>
          <p:nvPr/>
        </p:nvSpPr>
        <p:spPr>
          <a:xfrm>
            <a:off x="7863840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/user/mo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492240" y="2240280"/>
            <a:ext cx="18288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68296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7208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Plus features</a:t>
            </a:r>
            <a:endParaRPr lang="en-US" sz="12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15768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72084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common items</a:t>
            </a:r>
            <a:endParaRPr lang="en-US" sz="12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063240"/>
            <a:ext cx="182880" cy="18288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72084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Housing-verified groups</a:t>
            </a:r>
            <a:endParaRPr lang="en-US" sz="12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10712"/>
            <a:ext cx="182880" cy="18288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720840" y="3374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pricing for units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6263640" y="3886200"/>
            <a:ext cx="2286000" cy="2560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0" name="Text 37"/>
          <p:cNvSpPr/>
          <p:nvPr/>
        </p:nvSpPr>
        <p:spPr>
          <a:xfrm>
            <a:off x="626364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campus channel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2" name="Text 39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Verified Housing tier uses Duke admin data to </a:t>
            </a:r>
            <a:r>
              <a:rPr lang="en-US" sz="12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confirm who lives together, hence no gaming, better ML, opens B2B channel.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3" name="Text 40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contribution margin  ·  Breakeven at ~Month 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Launch OKRsMonth 1–6</a:t>
            </a:r>
            <a:endParaRPr lang="en-US" sz="2800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O1: Product-Market Fit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5603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813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active users by Month 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560320" cy="36576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4813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&lt; 2%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5603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8132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3952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&gt; 60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O2: Acquisition Engine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6148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7552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users from referrals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383280" y="2697480"/>
            <a:ext cx="2560320" cy="36576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76148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30752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 &lt; $3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126480" y="2697480"/>
            <a:ext cx="25603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76148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73952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Week-1 retention &gt; 70%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0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O3: Revenue Validation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640080" y="3977640"/>
            <a:ext cx="25603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41648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87552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Free→Paid conversion &gt; 25%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3383280" y="3977640"/>
            <a:ext cx="2560320" cy="365760"/>
          </a:xfrm>
          <a:prstGeom prst="rect">
            <a:avLst/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4041648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30752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&lt; 5%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6126480" y="3977640"/>
            <a:ext cx="25603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4041648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473952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&gt; $3,500 by Mo 6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Launch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Pre-Launch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50-person closed beta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10 ambassadors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waitlist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8211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APIs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291840" y="1051560"/>
            <a:ext cx="2560320" cy="594360"/>
          </a:xfrm>
          <a:prstGeom prst="rect">
            <a:avLst/>
          </a:prstGeom>
          <a:solidFill>
            <a:srgbClr val="0C8585"/>
          </a:solidFill>
          <a:ln/>
        </p:spPr>
      </p:sp>
      <p:sp>
        <p:nvSpPr>
          <p:cNvPr id="18" name="Text 12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Launch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29184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91840" y="16916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1051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Duke students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26771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4904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live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724912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4904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content starts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18211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4904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NPS pulses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126480" y="1051560"/>
            <a:ext cx="2560320" cy="594360"/>
          </a:xfrm>
          <a:prstGeom prst="rect">
            <a:avLst/>
          </a:prstGeom>
          <a:solidFill>
            <a:srgbClr val="0FA3A3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</p:sp>
      <p:sp>
        <p:nvSpPr>
          <p:cNvPr id="30" name="Text 20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Launch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612648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Weeks 9–12</a:t>
            </a:r>
          </a:p>
        </p:txBody>
      </p:sp>
      <p:sp>
        <p:nvSpPr>
          <p:cNvPr id="32" name="Shape 22"/>
          <p:cNvSpPr/>
          <p:nvPr/>
        </p:nvSpPr>
        <p:spPr>
          <a:xfrm>
            <a:off x="6126480" y="16916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10512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836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Duke students/staff</a:t>
            </a:r>
            <a:endParaRPr lang="en-US" sz="13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67712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58368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PR push</a:t>
            </a:r>
            <a:endParaRPr lang="en-US" sz="13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24912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58368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upsell nudges</a:t>
            </a:r>
            <a:endParaRPr lang="en-US" sz="13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82112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58368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expansion campuses</a:t>
            </a:r>
            <a:endParaRPr lang="en-US" sz="1300" dirty="0"/>
          </a:p>
        </p:txBody>
      </p:sp>
      <p:sp>
        <p:nvSpPr>
          <p:cNvPr id="41" name="Shape 2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2" name="Text 28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→ 75 users   |   Week 8 → 300 users   |   Week 12 → 750 users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Mitigation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97280"/>
            <a:ext cx="59436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campus adoption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pre-seeding + free tier removes friction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55648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47088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470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API delays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0756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Amazon Affiliate; manual curation fallback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05456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596896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968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2551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accuracy early 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825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Time-decay heuristics first; ML improves with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5526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55264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346704"/>
            <a:ext cx="59436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467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free→paid conversion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35753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10-item cap creates natural upgrade pressure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05072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096512"/>
            <a:ext cx="5943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965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7160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 entry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4325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moat; switching cost = 30+ days of data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GTM Strategy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776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393192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students (beachhead)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(freemium)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112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112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(ambassadors)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459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Marketing-Led (TikTok, SEO)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Channel-Led (APIs, housing)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$4.99 Plus / $3.49 Verified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3502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organic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3849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&lt; 2%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Breakeven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4197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 (~2,200 users)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914400"/>
            <a:ext cx="39776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914400"/>
            <a:ext cx="54864" cy="3931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7760" y="1417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490472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4406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7A8699"/>
                </a:solidFill>
                <a:latin typeface="Calibri"/>
                <a:ea typeface="Calibri"/>
                <a:cs typeface="Calibri"/>
              </a:rPr>
              <a:t>Solves root cause : cognitive overload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937760" y="19659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039112"/>
            <a:ext cx="219456" cy="21945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4406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Product-led: value before payment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937760" y="25146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587752"/>
            <a:ext cx="219456" cy="21945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44068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Duke: high-density viral campus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937760" y="30632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136392"/>
            <a:ext cx="219456" cy="21945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4068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 compounds over time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937760" y="361188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685032"/>
            <a:ext cx="219456" cy="21945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44068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margins → breakeven Month 14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4937760" y="41605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423367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4406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our quadrant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48" name="Text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"Your essentials are always there." - </a:t>
            </a:r>
            <a:r>
              <a:rPr lang="en-US" sz="1300" b="1" i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ReplenishAI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48A5C4F52CD94286EBDC9BB444F5C6" ma:contentTypeVersion="3" ma:contentTypeDescription="Create a new document." ma:contentTypeScope="" ma:versionID="5de7d407ed9c6b7adfb411711698bd8f">
  <xsd:schema xmlns:xsd="http://www.w3.org/2001/XMLSchema" xmlns:xs="http://www.w3.org/2001/XMLSchema" xmlns:p="http://schemas.microsoft.com/office/2006/metadata/properties" xmlns:ns2="093b251f-d84c-4ee6-aa66-53ff77a5e866" targetNamespace="http://schemas.microsoft.com/office/2006/metadata/properties" ma:root="true" ma:fieldsID="0ba7665f9a50513f1349f871f9a9df90" ns2:_="">
    <xsd:import namespace="093b251f-d84c-4ee6-aa66-53ff77a5e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b251f-d84c-4ee6-aa66-53ff77a5e8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0B150D-0A34-4F2A-8959-E7C41B4BF8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4115C5-35FA-48E7-93B7-1D8F10ECD2B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BC44F83-9F87-4C08-BCD3-16C3E26DE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3b251f-d84c-4ee6-aa66-53ff77a5e8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ReplenishAI — Go-To-Market Strategy</dc:title>
  <dc:subject>PptxGenJS Presentation</dc:subject>
  <dc:creator>ReplenishAI Team</dc:creator>
  <cp:lastModifiedBy>ReplenishAI Team</cp:lastModifiedBy>
  <cp:revision>37</cp:revision>
  <dcterms:created xsi:type="dcterms:W3CDTF">2026-03-25T12:52:24Z</dcterms:created>
  <dcterms:modified xsi:type="dcterms:W3CDTF">2026-03-25T13:23:01Z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0x010100B148A5C4F52CD94286EBDC9BB444F5C6</vt:lpwstr>
  </property>
</Properties>
</file>