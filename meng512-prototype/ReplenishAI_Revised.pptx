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A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 3</c:v>
                  </c:pt>
                  <c:pt idx="1">
                    <c:v>Mo 6</c:v>
                  </c:pt>
                  <c:pt idx="2">
                    <c:v>Mo 9</c:v>
                  </c:pt>
                  <c:pt idx="3">
                    <c:v>Mo 12</c:v>
                  </c:pt>
                  <c:pt idx="4">
                    <c:v>Mo 15</c:v>
                  </c:pt>
                  <c:pt idx="5">
                    <c:v>Mo 18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1050</c:v>
                </c:pt>
                <c:pt idx="1">
                  <c:v>3750</c:v>
                </c:pt>
                <c:pt idx="2">
                  <c:v>7500</c:v>
                </c:pt>
                <c:pt idx="3">
                  <c:v>12500</c:v>
                </c:pt>
                <c:pt idx="4">
                  <c:v>18750</c:v>
                </c:pt>
                <c:pt idx="5">
                  <c:v>26250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 3</c:v>
                  </c:pt>
                  <c:pt idx="1">
                    <c:v>Mo 6</c:v>
                  </c:pt>
                  <c:pt idx="2">
                    <c:v>Mo 9</c:v>
                  </c:pt>
                  <c:pt idx="3">
                    <c:v>Mo 12</c:v>
                  </c:pt>
                  <c:pt idx="4">
                    <c:v>Mo 15</c:v>
                  </c:pt>
                  <c:pt idx="5">
                    <c:v>Mo 18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8000</c:v>
                </c:pt>
                <c:pt idx="1">
                  <c:v>9500</c:v>
                </c:pt>
                <c:pt idx="2">
                  <c:v>10500</c:v>
                </c:pt>
                <c:pt idx="3">
                  <c:v>11500</c:v>
                </c:pt>
                <c:pt idx="4">
                  <c:v>12500</c:v>
                </c:pt>
                <c:pt idx="5">
                  <c:v>13500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6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6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A3A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ReplenishAI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takes on the mental load of household management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can stop stressing and start living.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Presentation — Revised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Boampong  ·  Alex (Yanhe) Zhu  ·  Austin Sandoval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User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1554480"/>
          </a:xfrm>
          <a:prstGeom prst="rect">
            <a:avLst/>
          </a:prstGeom>
          <a:solidFill>
            <a:srgbClr val="0FA3A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Mid-Task Disruptions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users discovered shortages at the worst moment — 11 PM laundry, pre-hosting, mid-shower.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105156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051560"/>
            <a:ext cx="64008" cy="1554480"/>
          </a:xfrm>
          <a:prstGeom prst="rect">
            <a:avLst/>
          </a:prstGeom>
          <a:solidFill>
            <a:srgbClr val="0FA3A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80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 Price Premiums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7492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convenience store runs cost 5–6× normal price. A solvable budget drain.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788920"/>
            <a:ext cx="64008" cy="1554480"/>
          </a:xfrm>
          <a:prstGeom prst="rect">
            <a:avLst/>
          </a:prstGeom>
          <a:solidFill>
            <a:srgbClr val="0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Cognitive Overload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3152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track dozens of items mentally alongside classes, work, and deadlines.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00600" y="278892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788920"/>
            <a:ext cx="64008" cy="1554480"/>
          </a:xfrm>
          <a:prstGeom prst="rect">
            <a:avLst/>
          </a:prstGeom>
          <a:solidFill>
            <a:srgbClr val="0FA3A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0175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Solutions Fail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07492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&amp; Save uses fixed cadences. Reminder apps are reactive. None adapts to real life.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0" y="448056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"After managing projects all day, I don't want to manage my pantry too."  — Customer Interview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confirmed by external data — the problem is real, large, and growing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14630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interviewees discovered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 mid-task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1463040"/>
          </a:xfrm>
          <a:prstGeom prst="rect">
            <a:avLst/>
          </a:prstGeom>
          <a:solidFill>
            <a:srgbClr val="0C858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cognitive household labor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on one person (USC, 2024)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560320" cy="14630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28.6%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AI grocery mgmt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→ $3.65B by 2029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64008" cy="18288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Scientifically Validated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 and UW-Madison research confirms household inventory tracking is among the most stressful cognitive labor. 63% report doing more than their share.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108960"/>
            <a:ext cx="64008" cy="18288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Moving Our Direction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3566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consumers expect AI-assisted purchasing by 2030. Grocery subscription spending on essentials rose 35–77% in 3 years. Demand exists — the right product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 — ReplenishAI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"Inventory tracking managed by AI. Purchase decisions managed by you."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64008" cy="13716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Intelligence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286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30-day consumption cycle and detects low stock before you notice.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00600" y="169164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691640"/>
            <a:ext cx="64008" cy="13716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Co-Pilot Mode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74920" y="2286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requires your approval. Full control over every purchase. No auto-buying.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324612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246120"/>
            <a:ext cx="64008" cy="13716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Context-Aware Alerts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3152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during natural windows — Sunday afternoon, not 11 PM. Calendar-synced.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800600" y="324612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3246120"/>
            <a:ext cx="64008" cy="13716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290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Optimization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07492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price history, flags deals on preferred brands, suggests bulk buys.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iOS &amp; Android  ·  Lightweight onboarding  ·  Calendar integration  ·  Duke University beachhead launch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Journey — Alert to Doorstep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experience from prediction to fulfillment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Detects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Stock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predicts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run out in 5 days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377440" y="146304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6002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1168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Alert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92024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at your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shopping window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69164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60020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9476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Approve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Edit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370332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confirm, swap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brands, or dismiss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691640"/>
            <a:ext cx="274320" cy="27432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943600" y="146304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1600200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Routed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Delivered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548640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best supplier.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tracking.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1691640"/>
            <a:ext cx="274320" cy="27432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7726680" y="146304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9560" y="1600200"/>
            <a:ext cx="457200" cy="4572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36092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Delivered &amp;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Logged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726948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updated.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gets smarter.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457200" y="3703320"/>
            <a:ext cx="822960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0"/>
          <p:cNvSpPr/>
          <p:nvPr/>
        </p:nvSpPr>
        <p:spPr>
          <a:xfrm>
            <a:off x="7315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Something Goes Wrong?</a:t>
            </a:r>
            <a:endParaRPr lang="en-US" sz="1500" dirty="0"/>
          </a:p>
        </p:txBody>
      </p:sp>
      <p:sp>
        <p:nvSpPr>
          <p:cNvPr id="32" name="Text 21"/>
          <p:cNvSpPr/>
          <p:nvPr/>
        </p:nvSpPr>
        <p:spPr>
          <a:xfrm>
            <a:off x="731520" y="41148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item → One-tap return, AI auto-reorders the correct product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731520" y="43708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→ Real-time alerts + fallback routing to alternate supplier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731520" y="462686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 → AI suggests equivalent brand; user approves before order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Integration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ReplenishAI connects to fulfillment partners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3291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ReplenishAI Engine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2194560" cy="502920"/>
          </a:xfrm>
          <a:prstGeom prst="rect">
            <a:avLst/>
          </a:prstGeom>
          <a:solidFill>
            <a:srgbClr val="263A5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848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ML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651760"/>
            <a:ext cx="2194560" cy="502920"/>
          </a:xfrm>
          <a:prstGeom prst="rect">
            <a:avLst/>
          </a:prstGeom>
          <a:solidFill>
            <a:srgbClr val="263A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2491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" y="3291840"/>
            <a:ext cx="2194560" cy="502920"/>
          </a:xfrm>
          <a:prstGeom prst="rect">
            <a:avLst/>
          </a:prstGeom>
          <a:solidFill>
            <a:srgbClr val="263A5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Comparison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94360" y="3931920"/>
            <a:ext cx="2194560" cy="502920"/>
          </a:xfrm>
          <a:prstGeom prst="rect">
            <a:avLst/>
          </a:prstGeom>
          <a:solidFill>
            <a:srgbClr val="263A5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0507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Router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337560" y="1463040"/>
            <a:ext cx="2377440" cy="3291840"/>
          </a:xfrm>
          <a:prstGeom prst="rect">
            <a:avLst/>
          </a:prstGeom>
          <a:solidFill>
            <a:srgbClr val="0FA3A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342900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Layer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3566160" y="2057400"/>
            <a:ext cx="1920240" cy="365760"/>
          </a:xfrm>
          <a:prstGeom prst="rect">
            <a:avLst/>
          </a:prstGeom>
          <a:solidFill>
            <a:srgbClr val="0C8585"/>
          </a:solidFill>
          <a:ln/>
        </p:spPr>
      </p:sp>
      <p:sp>
        <p:nvSpPr>
          <p:cNvPr id="23" name="Text 17"/>
          <p:cNvSpPr/>
          <p:nvPr/>
        </p:nvSpPr>
        <p:spPr>
          <a:xfrm>
            <a:off x="35661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APIs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566160" y="2560320"/>
            <a:ext cx="1920240" cy="365760"/>
          </a:xfrm>
          <a:prstGeom prst="rect">
            <a:avLst/>
          </a:prstGeom>
          <a:solidFill>
            <a:srgbClr val="0C8585"/>
          </a:solidFill>
          <a:ln/>
        </p:spPr>
      </p:sp>
      <p:sp>
        <p:nvSpPr>
          <p:cNvPr id="25" name="Text 19"/>
          <p:cNvSpPr/>
          <p:nvPr/>
        </p:nvSpPr>
        <p:spPr>
          <a:xfrm>
            <a:off x="356616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566160" y="3063240"/>
            <a:ext cx="1920240" cy="365760"/>
          </a:xfrm>
          <a:prstGeom prst="rect">
            <a:avLst/>
          </a:prstGeom>
          <a:solidFill>
            <a:srgbClr val="0C8585"/>
          </a:solidFill>
          <a:ln/>
        </p:spPr>
      </p:sp>
      <p:sp>
        <p:nvSpPr>
          <p:cNvPr id="27" name="Text 21"/>
          <p:cNvSpPr/>
          <p:nvPr/>
        </p:nvSpPr>
        <p:spPr>
          <a:xfrm>
            <a:off x="35661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566160" y="3566160"/>
            <a:ext cx="1920240" cy="365760"/>
          </a:xfrm>
          <a:prstGeom prst="rect">
            <a:avLst/>
          </a:prstGeom>
          <a:solidFill>
            <a:srgbClr val="0C8585"/>
          </a:solidFill>
          <a:ln/>
        </p:spPr>
      </p:sp>
      <p:sp>
        <p:nvSpPr>
          <p:cNvPr id="29" name="Text 23"/>
          <p:cNvSpPr/>
          <p:nvPr/>
        </p:nvSpPr>
        <p:spPr>
          <a:xfrm>
            <a:off x="356616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Tracking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566160" y="4069080"/>
            <a:ext cx="1920240" cy="365760"/>
          </a:xfrm>
          <a:prstGeom prst="rect">
            <a:avLst/>
          </a:prstGeom>
          <a:solidFill>
            <a:srgbClr val="0C8585"/>
          </a:solidFill>
          <a:ln/>
        </p:spPr>
      </p:sp>
      <p:sp>
        <p:nvSpPr>
          <p:cNvPr id="31" name="Text 25"/>
          <p:cNvSpPr/>
          <p:nvPr/>
        </p:nvSpPr>
        <p:spPr>
          <a:xfrm>
            <a:off x="356616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Refunds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035040" y="146304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Fulfillment Partners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6217920" y="2011680"/>
            <a:ext cx="2377440" cy="7315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5" name="Shape 29"/>
          <p:cNvSpPr/>
          <p:nvPr/>
        </p:nvSpPr>
        <p:spPr>
          <a:xfrm>
            <a:off x="6217920" y="2011680"/>
            <a:ext cx="54864" cy="7315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6" name="Text 30"/>
          <p:cNvSpPr/>
          <p:nvPr/>
        </p:nvSpPr>
        <p:spPr>
          <a:xfrm>
            <a:off x="6400800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400800" y="2267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Advertising API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400800" y="2468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catalog, Prime delivery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217920" y="2880360"/>
            <a:ext cx="2377440" cy="7315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Shape 34"/>
          <p:cNvSpPr/>
          <p:nvPr/>
        </p:nvSpPr>
        <p:spPr>
          <a:xfrm>
            <a:off x="6217920" y="2880360"/>
            <a:ext cx="54864" cy="7315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1" name="Text 35"/>
          <p:cNvSpPr/>
          <p:nvPr/>
        </p:nvSpPr>
        <p:spPr>
          <a:xfrm>
            <a:off x="6400800" y="2898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Walmart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6400800" y="31363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+ Content API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6400800" y="3337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leader, pickup option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6217920" y="3749040"/>
            <a:ext cx="2377440" cy="7315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5" name="Shape 39"/>
          <p:cNvSpPr/>
          <p:nvPr/>
        </p:nvSpPr>
        <p:spPr>
          <a:xfrm>
            <a:off x="6217920" y="3749040"/>
            <a:ext cx="54864" cy="7315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6" name="Text 40"/>
          <p:cNvSpPr/>
          <p:nvPr/>
        </p:nvSpPr>
        <p:spPr>
          <a:xfrm>
            <a:off x="6400800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Instacart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6400800" y="4005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API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6400800" y="4206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Same-day, local stores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3063240" y="3108960"/>
            <a:ext cx="274320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5715000" y="3108960"/>
            <a:ext cx="320040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ReplenishAI is the only solution that is both proactive AND low cognitive load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201168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417320"/>
            <a:ext cx="1371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S&amp;S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417320"/>
            <a:ext cx="1371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Instacart/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Gopuff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417320"/>
            <a:ext cx="1371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417320"/>
            <a:ext cx="1371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ReplenishAI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1920240"/>
            <a:ext cx="2011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Stockouts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192024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(fixed schedule)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6240" y="192024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192024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49440" y="192024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2331720"/>
            <a:ext cx="201168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Cognitive Load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34640" y="2331720"/>
            <a:ext cx="137160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(set &amp; forget)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06240" y="2331720"/>
            <a:ext cx="137160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2331720"/>
            <a:ext cx="137160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49440" y="2331720"/>
            <a:ext cx="137160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" y="2743200"/>
            <a:ext cx="2011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Behavior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34640" y="274320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83464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06240" y="274320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20624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77840" y="274320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49440" y="274320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94944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2960" y="3154680"/>
            <a:ext cx="201168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Retains Control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34640" y="3154680"/>
            <a:ext cx="137160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0" y="3154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06240" y="3154680"/>
            <a:ext cx="137160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1" name="Text 49"/>
          <p:cNvSpPr/>
          <p:nvPr/>
        </p:nvSpPr>
        <p:spPr>
          <a:xfrm>
            <a:off x="4206240" y="3154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577840" y="3154680"/>
            <a:ext cx="137160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3" name="Text 51"/>
          <p:cNvSpPr/>
          <p:nvPr/>
        </p:nvSpPr>
        <p:spPr>
          <a:xfrm>
            <a:off x="5577840" y="3154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949440" y="3154680"/>
            <a:ext cx="137160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5" name="Text 53"/>
          <p:cNvSpPr/>
          <p:nvPr/>
        </p:nvSpPr>
        <p:spPr>
          <a:xfrm>
            <a:off x="6949440" y="3154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22960" y="3566160"/>
            <a:ext cx="2011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Budget-Aware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834640" y="356616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283464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206240" y="356616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420624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577840" y="356616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557784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949440" y="3566160"/>
            <a:ext cx="1371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694944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Amazon Subscribe &amp; Save is strong for scheduled replenishment — ReplenishAI complements it by adding adaptive intelligence for irregular consumption patterns.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ReplenishAI is the ONLY solution occupying the Proactive + Zero Cognitive Load quadrant.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Are Defensible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Proprietary Consumption ML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per household. Every interaction improves prediction accuracy — a personal data moat that widens over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00600" y="105156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2344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Data Flywheel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 → smarter predictions → better retention. Network effects compound across households.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288036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Duke University Beachhead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8580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campus provides a high-trust, concentrated early-adopter cohort with strong word-of-mouth.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800600" y="288036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83480" y="3063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546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Supplier Integration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02920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logistics partnerships create switching costs for both users and supply-side partners.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 — Revenue &amp; Cost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777240" cy="228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Subscription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by household size · Core prediction + alerts · Price optimization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97480"/>
            <a:ext cx="777240" cy="2286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&amp; Premium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commissions · Same-day delivery add-on · Concierge tier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03320"/>
            <a:ext cx="777240" cy="228600"/>
          </a:xfrm>
          <a:prstGeom prst="rect">
            <a:avLst/>
          </a:prstGeom>
          <a:solidFill>
            <a:srgbClr val="7A869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033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630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&amp; Enterprise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housing operators · Co-living buildings · Smart-building integrations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Structure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Costs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2011680"/>
            <a:ext cx="54864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19842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development &amp; maintenance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92040" y="2304288"/>
            <a:ext cx="54864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2276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engineering team (3 FTEs)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92040" y="2596896"/>
            <a:ext cx="54864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5694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&amp; storage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2004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200400"/>
            <a:ext cx="393192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Costs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92040" y="3657600"/>
            <a:ext cx="54864" cy="201168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3630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API integration fees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92040" y="3950208"/>
            <a:ext cx="54864" cy="201168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3922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logistics partnerships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92040" y="4242816"/>
            <a:ext cx="54864" cy="201168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4215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spend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 — Defended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is grounded in industry benchmarks or our primary research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3716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417320"/>
            <a:ext cx="6675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417320"/>
            <a:ext cx="54864" cy="7315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4173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 for Subscribe &amp; Save is ~8%. Our ML predicts 5 days ahead, giving a larger reorder window. Even a basic time-series model in testing reduced simulated stockouts to 3%.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3716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Households (Mo 6)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2286000"/>
            <a:ext cx="6675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0" y="2286000"/>
            <a:ext cx="54864" cy="7315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7" name="Text 15"/>
          <p:cNvSpPr/>
          <p:nvPr/>
        </p:nvSpPr>
        <p:spPr>
          <a:xfrm>
            <a:off x="2240280" y="22860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has ~6,700 undergrads + 4,000 grad students. 500 = ~5% adoption — in range of campus app launches like Venmo (7% at Penn) and Good&amp;Co (4% at launch campus).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3716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Churn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3154680"/>
            <a:ext cx="6675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0" y="3154680"/>
            <a:ext cx="54864" cy="7315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3" name="Text 21"/>
          <p:cNvSpPr/>
          <p:nvPr/>
        </p:nvSpPr>
        <p:spPr>
          <a:xfrm>
            <a:off x="2240280" y="31546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subscription median churn is 6–8%/mo. Our product reduces a daily pain point (cognitive load), creating habitual use. Comparable habit-forming apps like meditation/fitness see 4–6%.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13716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&gt;60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4023360"/>
            <a:ext cx="6675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0" y="4023360"/>
            <a:ext cx="54864" cy="7315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9" name="Text 27"/>
          <p:cNvSpPr/>
          <p:nvPr/>
        </p:nvSpPr>
        <p:spPr>
          <a:xfrm>
            <a:off x="2240280" y="4023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interviews scored the problem 8–10/10 frustration. Products that eliminate a high-frustration daily pain (e.g., Superhuman at 58 NPS) routinely exceed 60.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to Breakeven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Economics (per household/mo)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$7.99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1975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Commission (avg)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1975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258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/ Household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258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$10.49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825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ML Cost per User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08960" y="2825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–$1.80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API Fees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3108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–$0.60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392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Allocation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08960" y="3392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–$0.40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675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Variable Cost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–$2.80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42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$7.69 (73%)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Breakeven Timeline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600200"/>
            <a:ext cx="39319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27" name="Chart 0" descr=""/>
          <p:cNvGraphicFramePr/>
          <p:nvPr/>
        </p:nvGraphicFramePr>
        <p:xfrm>
          <a:off x="4846320" y="1691640"/>
          <a:ext cx="37490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5029200" y="3840480"/>
            <a:ext cx="3383280" cy="7772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Breakeven at ~Month 14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02920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1,600 active households and $7.69 contribution margin, monthly revenue covers fixed costs of ~$12K.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77724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070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80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Problem, Not a Shipping Problem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out of essentials is a cognitive burden, not a logistics failure. ReplenishAI solves the right problem.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057400"/>
            <a:ext cx="64008" cy="77724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16712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240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Duke Campus as High-Trust Beachhead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46304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university ecosystem gives us concentrated, trusted early adopters with strong referral dynamics.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017520"/>
            <a:ext cx="64008" cy="77724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" y="31272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04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 + Data Flywheel = Defensibility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46304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 funds the model. The model improves retention. Better retention deepens the data moat.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977640"/>
            <a:ext cx="64008" cy="77724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5" name="Shape 20"/>
          <p:cNvSpPr/>
          <p:nvPr/>
        </p:nvSpPr>
        <p:spPr>
          <a:xfrm>
            <a:off x="731520" y="40873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1605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Path to Profitability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463040" y="4343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contribution margins and a focused beachhead strategy put us on track for breakeven by Month 14.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ReplenishAI Business Model Presentation — Revised</dc:title>
  <dc:subject>PptxGenJS Presentation</dc:subject>
  <dc:creator>ReplenishAI Team</dc:creator>
  <cp:lastModifiedBy>ReplenishAI Team</cp:lastModifiedBy>
  <cp:revision>1</cp:revision>
  <dcterms:created xsi:type="dcterms:W3CDTF">2026-03-24T20:04:44Z</dcterms:created>
  <dcterms:modified xsi:type="dcterms:W3CDTF">2026-03-24T20:04:44Z</dcterms:modified>
</cp:coreProperties>
</file>